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 Medium"/>
      <p:regular r:id="rId26"/>
      <p:bold r:id="rId27"/>
      <p:italic r:id="rId28"/>
      <p:boldItalic r:id="rId29"/>
    </p:embeddedFont>
    <p:embeddedFont>
      <p:font typeface="Nunito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regular.fntdata"/><Relationship Id="rId25" Type="http://schemas.openxmlformats.org/officeDocument/2006/relationships/slide" Target="slides/slide20.xml"/><Relationship Id="rId28" Type="http://schemas.openxmlformats.org/officeDocument/2006/relationships/font" Target="fonts/NunitoMedium-italic.fntdata"/><Relationship Id="rId27" Type="http://schemas.openxmlformats.org/officeDocument/2006/relationships/font" Target="fonts/Nunito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Light-bold.fntdata"/><Relationship Id="rId30" Type="http://schemas.openxmlformats.org/officeDocument/2006/relationships/font" Target="fonts/NunitoLight-regular.fntdata"/><Relationship Id="rId11" Type="http://schemas.openxmlformats.org/officeDocument/2006/relationships/slide" Target="slides/slide6.xml"/><Relationship Id="rId33" Type="http://schemas.openxmlformats.org/officeDocument/2006/relationships/font" Target="fonts/Nunito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31feed4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31feed4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88f9a5a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488f9a5a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1feed4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1feed4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31feed46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31feed46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1feed4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31feed4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488f9a5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488f9a5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31feed46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31feed46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31feed4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31feed4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b901e08b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4b901e08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4b901e08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4b901e08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488f9a5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488f9a5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31feed46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31feed4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4b901e08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4b901e08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4b901e08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4b901e08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31feed46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31feed46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31feed46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31feed46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4b901e08b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4b901e08b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4ac2e4e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4ac2e4e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488f9a5a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488f9a5a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992825" y="968300"/>
            <a:ext cx="719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992825" y="2834125"/>
            <a:ext cx="7191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24300" y="-2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534750" y="35342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719150" y="2150850"/>
            <a:ext cx="7635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24300" y="-2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534750" y="35342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013250" y="1152475"/>
            <a:ext cx="3728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741700" y="1152475"/>
            <a:ext cx="373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1038400" y="546150"/>
            <a:ext cx="31917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038400" y="1380150"/>
            <a:ext cx="31917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1001150" y="431275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24300" y="-2"/>
            <a:ext cx="2119702" cy="10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534750" y="35342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1002275" y="1233175"/>
            <a:ext cx="38370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1002275" y="2803075"/>
            <a:ext cx="383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038400" y="42777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hasCustomPrompt="1" type="title"/>
          </p:nvPr>
        </p:nvSpPr>
        <p:spPr>
          <a:xfrm>
            <a:off x="1098800" y="1106125"/>
            <a:ext cx="69063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1098800" y="3152225"/>
            <a:ext cx="69063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63" name="Google Shape;6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66" name="Google Shape;6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510450" y="510448"/>
            <a:ext cx="2119702" cy="1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A3A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2800"/>
              <a:buFont typeface="Nunito Medium"/>
              <a:buNone/>
              <a:defRPr b="0" i="0" sz="2800" u="none" cap="none" strike="noStrike">
                <a:solidFill>
                  <a:srgbClr val="E6E6E6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13250" y="1118125"/>
            <a:ext cx="779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800"/>
              <a:buFont typeface="Nunito Light"/>
              <a:buChar char="●"/>
              <a:defRPr b="0" i="0" sz="18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○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■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●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○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■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●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○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400"/>
              <a:buFont typeface="Nunito Light"/>
              <a:buChar char="■"/>
              <a:defRPr b="0" i="0" sz="1400" u="none" cap="none" strike="noStrike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11953" r="15110" t="0"/>
          <a:stretch/>
        </p:blipFill>
        <p:spPr>
          <a:xfrm>
            <a:off x="0" y="3754275"/>
            <a:ext cx="1013248" cy="1389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hyperlink" Target="https://towardsdatascience.com/softmax-activation-function-explained-a7e1bc3ad6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32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hyperlink" Target="https://www.geeksforgeeks.org/machine-learning/xgboost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ctrTitle"/>
          </p:nvPr>
        </p:nvSpPr>
        <p:spPr>
          <a:xfrm>
            <a:off x="992825" y="968300"/>
            <a:ext cx="719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pl"/>
              <a:t>Klasyfikacja</a:t>
            </a:r>
            <a:endParaRPr/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992825" y="2834125"/>
            <a:ext cx="71913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l"/>
              <a:t>Golem Bootcamp - Mateusz Nawrocki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l"/>
              <a:t>XI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Czym jest klasyfikacja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513" y="1226452"/>
            <a:ext cx="6624600" cy="319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 uzyskać prawdopodobieństwa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1013250" y="1152475"/>
            <a:ext cx="372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Sigmoida</a:t>
            </a:r>
            <a:endParaRPr sz="2000"/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4741700" y="1152475"/>
            <a:ext cx="373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Softmax</a:t>
            </a:r>
            <a:endParaRPr sz="2000"/>
          </a:p>
        </p:txBody>
      </p:sp>
      <p:grpSp>
        <p:nvGrpSpPr>
          <p:cNvPr id="87" name="Google Shape;87;p15"/>
          <p:cNvGrpSpPr/>
          <p:nvPr/>
        </p:nvGrpSpPr>
        <p:grpSpPr>
          <a:xfrm>
            <a:off x="5531486" y="1624700"/>
            <a:ext cx="2151464" cy="1302729"/>
            <a:chOff x="4600750" y="1156525"/>
            <a:chExt cx="4063200" cy="2460300"/>
          </a:xfrm>
        </p:grpSpPr>
        <p:sp>
          <p:nvSpPr>
            <p:cNvPr id="88" name="Google Shape;88;p15"/>
            <p:cNvSpPr/>
            <p:nvPr/>
          </p:nvSpPr>
          <p:spPr>
            <a:xfrm>
              <a:off x="4600750" y="1156525"/>
              <a:ext cx="4063200" cy="2460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5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400" lIns="48400" spcFirstLastPara="1" rIns="48400" wrap="square" tIns="48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1"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89" name="Google Shape;8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43888" y="1518243"/>
              <a:ext cx="3376925" cy="1736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15"/>
          <p:cNvGrpSpPr/>
          <p:nvPr/>
        </p:nvGrpSpPr>
        <p:grpSpPr>
          <a:xfrm>
            <a:off x="1801626" y="1624728"/>
            <a:ext cx="2151179" cy="1302714"/>
            <a:chOff x="1572759" y="1781740"/>
            <a:chExt cx="2609387" cy="1580005"/>
          </a:xfrm>
        </p:grpSpPr>
        <p:sp>
          <p:nvSpPr>
            <p:cNvPr id="91" name="Google Shape;91;p15"/>
            <p:cNvSpPr/>
            <p:nvPr/>
          </p:nvSpPr>
          <p:spPr>
            <a:xfrm>
              <a:off x="1572759" y="1781740"/>
              <a:ext cx="2609387" cy="158000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5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425" lIns="48425" spcFirstLastPara="1" rIns="48425" wrap="square" tIns="48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41"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92" name="Google Shape;92;p15" title="lagrida_latex_editor (9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90450" y="2285388"/>
              <a:ext cx="1974019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1800" y="3086004"/>
            <a:ext cx="2151300" cy="174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1462" y="3107000"/>
            <a:ext cx="2151300" cy="170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7224700" y="2681425"/>
            <a:ext cx="1202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7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Źródło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Podział klasyfikację na binarną i wieloklasową</a:t>
            </a:r>
            <a:endParaRPr/>
          </a:p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633300" y="1419850"/>
            <a:ext cx="1877400" cy="9468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latin typeface="Nunito Light"/>
                <a:ea typeface="Nunito Light"/>
                <a:cs typeface="Nunito Light"/>
                <a:sym typeface="Nunito Light"/>
              </a:rPr>
              <a:t>Klasyfikacja</a:t>
            </a:r>
            <a:endParaRPr sz="1800"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1755900" y="3008000"/>
            <a:ext cx="1877400" cy="9468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latin typeface="Nunito Light"/>
                <a:ea typeface="Nunito Light"/>
                <a:cs typeface="Nunito Light"/>
                <a:sym typeface="Nunito Light"/>
              </a:rPr>
              <a:t>Binarna</a:t>
            </a:r>
            <a:endParaRPr sz="1500"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latin typeface="Nunito Light"/>
                <a:ea typeface="Nunito Light"/>
                <a:cs typeface="Nunito Light"/>
                <a:sym typeface="Nunito Light"/>
              </a:rPr>
              <a:t>np. zimno / ciepło</a:t>
            </a:r>
            <a:endParaRPr sz="1200"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510700" y="3008000"/>
            <a:ext cx="1877400" cy="946800"/>
          </a:xfrm>
          <a:prstGeom prst="roundRect">
            <a:avLst>
              <a:gd fmla="val 16667" name="adj"/>
            </a:avLst>
          </a:prstGeom>
          <a:solidFill>
            <a:srgbClr val="E6E6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latin typeface="Nunito Light"/>
                <a:ea typeface="Nunito Light"/>
                <a:cs typeface="Nunito Light"/>
                <a:sym typeface="Nunito Light"/>
              </a:rPr>
              <a:t>Wieloklasowa</a:t>
            </a:r>
            <a:endParaRPr sz="1500">
              <a:latin typeface="Nunito Light"/>
              <a:ea typeface="Nunito Light"/>
              <a:cs typeface="Nunito Light"/>
              <a:sym typeface="Nuni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>
                <a:latin typeface="Nunito Light"/>
                <a:ea typeface="Nunito Light"/>
                <a:cs typeface="Nunito Light"/>
                <a:sym typeface="Nunito Light"/>
              </a:rPr>
              <a:t>np. kot, pies, ptak</a:t>
            </a:r>
            <a:endParaRPr sz="1200"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105" name="Google Shape;105;p16"/>
          <p:cNvCxnSpPr>
            <a:stCxn id="102" idx="2"/>
            <a:endCxn id="103" idx="0"/>
          </p:cNvCxnSpPr>
          <p:nvPr/>
        </p:nvCxnSpPr>
        <p:spPr>
          <a:xfrm flipH="1">
            <a:off x="2694600" y="2366650"/>
            <a:ext cx="1877400" cy="641400"/>
          </a:xfrm>
          <a:prstGeom prst="straightConnector1">
            <a:avLst/>
          </a:prstGeom>
          <a:noFill/>
          <a:ln cap="flat" cmpd="sng" w="9525">
            <a:solidFill>
              <a:srgbClr val="E6E6E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6"/>
          <p:cNvCxnSpPr>
            <a:stCxn id="102" idx="2"/>
            <a:endCxn id="104" idx="0"/>
          </p:cNvCxnSpPr>
          <p:nvPr/>
        </p:nvCxnSpPr>
        <p:spPr>
          <a:xfrm>
            <a:off x="4572000" y="2366650"/>
            <a:ext cx="1877400" cy="641400"/>
          </a:xfrm>
          <a:prstGeom prst="straightConnector1">
            <a:avLst/>
          </a:prstGeom>
          <a:noFill/>
          <a:ln cap="flat" cmpd="sng" w="9525">
            <a:solidFill>
              <a:srgbClr val="E6E6E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Zadanie klasyfikacji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330825"/>
            <a:ext cx="4572000" cy="299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52">
            <a:off x="6068602" y="2733260"/>
            <a:ext cx="2280000" cy="132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Entropia krzyżowa</a:t>
            </a:r>
            <a:endParaRPr/>
          </a:p>
        </p:txBody>
      </p:sp>
      <p:grpSp>
        <p:nvGrpSpPr>
          <p:cNvPr id="120" name="Google Shape;120;p18"/>
          <p:cNvGrpSpPr/>
          <p:nvPr/>
        </p:nvGrpSpPr>
        <p:grpSpPr>
          <a:xfrm>
            <a:off x="1717350" y="1372175"/>
            <a:ext cx="2389200" cy="664500"/>
            <a:chOff x="1861650" y="1663775"/>
            <a:chExt cx="2389200" cy="664500"/>
          </a:xfrm>
        </p:grpSpPr>
        <p:sp>
          <p:nvSpPr>
            <p:cNvPr id="121" name="Google Shape;121;p18"/>
            <p:cNvSpPr/>
            <p:nvPr/>
          </p:nvSpPr>
          <p:spPr>
            <a:xfrm>
              <a:off x="1861650" y="166377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22" name="Google Shape;122;p18" title="lagrida_latex_editor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70525" y="1891250"/>
              <a:ext cx="171450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18"/>
          <p:cNvGrpSpPr/>
          <p:nvPr/>
        </p:nvGrpSpPr>
        <p:grpSpPr>
          <a:xfrm>
            <a:off x="1717350" y="2543625"/>
            <a:ext cx="2389200" cy="664500"/>
            <a:chOff x="1717350" y="2543625"/>
            <a:chExt cx="2389200" cy="664500"/>
          </a:xfrm>
        </p:grpSpPr>
        <p:sp>
          <p:nvSpPr>
            <p:cNvPr id="124" name="Google Shape;124;p18"/>
            <p:cNvSpPr/>
            <p:nvPr/>
          </p:nvSpPr>
          <p:spPr>
            <a:xfrm>
              <a:off x="1717350" y="254362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25" name="Google Shape;125;p18" title="lagrida_latex_editor (2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64238" y="2670063"/>
              <a:ext cx="1095425" cy="411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8"/>
          <p:cNvGrpSpPr/>
          <p:nvPr/>
        </p:nvGrpSpPr>
        <p:grpSpPr>
          <a:xfrm>
            <a:off x="1717350" y="3715075"/>
            <a:ext cx="2389200" cy="664500"/>
            <a:chOff x="5037450" y="2543625"/>
            <a:chExt cx="2389200" cy="664500"/>
          </a:xfrm>
        </p:grpSpPr>
        <p:sp>
          <p:nvSpPr>
            <p:cNvPr id="127" name="Google Shape;127;p18"/>
            <p:cNvSpPr/>
            <p:nvPr/>
          </p:nvSpPr>
          <p:spPr>
            <a:xfrm>
              <a:off x="5037450" y="254362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28" name="Google Shape;128;p18" title="lagrida_latex_editor (3)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79988" y="2716750"/>
              <a:ext cx="1704125" cy="31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18"/>
          <p:cNvGrpSpPr/>
          <p:nvPr/>
        </p:nvGrpSpPr>
        <p:grpSpPr>
          <a:xfrm>
            <a:off x="5037450" y="3715075"/>
            <a:ext cx="2389200" cy="664500"/>
            <a:chOff x="3377400" y="3590875"/>
            <a:chExt cx="2389200" cy="664500"/>
          </a:xfrm>
        </p:grpSpPr>
        <p:sp>
          <p:nvSpPr>
            <p:cNvPr id="130" name="Google Shape;130;p18"/>
            <p:cNvSpPr/>
            <p:nvPr/>
          </p:nvSpPr>
          <p:spPr>
            <a:xfrm>
              <a:off x="3377400" y="359087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31" name="Google Shape;131;p18" title="lagrida_latex_editor (4)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66000" y="3764000"/>
              <a:ext cx="1811996" cy="31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18"/>
          <p:cNvGrpSpPr/>
          <p:nvPr/>
        </p:nvGrpSpPr>
        <p:grpSpPr>
          <a:xfrm>
            <a:off x="5037450" y="1372175"/>
            <a:ext cx="2389200" cy="664500"/>
            <a:chOff x="5037450" y="1372175"/>
            <a:chExt cx="2389200" cy="664500"/>
          </a:xfrm>
        </p:grpSpPr>
        <p:sp>
          <p:nvSpPr>
            <p:cNvPr id="133" name="Google Shape;133;p18"/>
            <p:cNvSpPr/>
            <p:nvPr/>
          </p:nvSpPr>
          <p:spPr>
            <a:xfrm>
              <a:off x="5037450" y="137217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34" name="Google Shape;134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309163" y="1553450"/>
              <a:ext cx="1845775" cy="301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18"/>
          <p:cNvGrpSpPr/>
          <p:nvPr/>
        </p:nvGrpSpPr>
        <p:grpSpPr>
          <a:xfrm>
            <a:off x="5037450" y="2543625"/>
            <a:ext cx="2389200" cy="664500"/>
            <a:chOff x="5037450" y="2543625"/>
            <a:chExt cx="2389200" cy="664500"/>
          </a:xfrm>
        </p:grpSpPr>
        <p:sp>
          <p:nvSpPr>
            <p:cNvPr id="136" name="Google Shape;136;p18"/>
            <p:cNvSpPr/>
            <p:nvPr/>
          </p:nvSpPr>
          <p:spPr>
            <a:xfrm>
              <a:off x="5037450" y="2543625"/>
              <a:ext cx="2389200" cy="664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37" name="Google Shape;137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581813" y="2683900"/>
              <a:ext cx="1300468" cy="383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18"/>
          <p:cNvGrpSpPr/>
          <p:nvPr/>
        </p:nvGrpSpPr>
        <p:grpSpPr>
          <a:xfrm>
            <a:off x="3062766" y="3468975"/>
            <a:ext cx="1735754" cy="383948"/>
            <a:chOff x="3113491" y="3384800"/>
            <a:chExt cx="1735754" cy="383948"/>
          </a:xfrm>
        </p:grpSpPr>
        <p:sp>
          <p:nvSpPr>
            <p:cNvPr id="139" name="Google Shape;139;p18"/>
            <p:cNvSpPr/>
            <p:nvPr/>
          </p:nvSpPr>
          <p:spPr>
            <a:xfrm>
              <a:off x="3113491" y="3384800"/>
              <a:ext cx="1735754" cy="383948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55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825" lIns="52825" spcFirstLastPara="1" rIns="52825" wrap="square" tIns="52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9"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40" name="Google Shape;140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213000" y="3515675"/>
              <a:ext cx="1536750" cy="122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719150" y="2150850"/>
            <a:ext cx="763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Klasyfikacja binarna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SGD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100" y="1457125"/>
            <a:ext cx="4627800" cy="273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SVM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Support Vector Machines - chcemy znaleźć hiperpłaszczyznę, która z jak największym marginesem oddziela klasy</a:t>
            </a: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2071272" y="2040156"/>
            <a:ext cx="5343150" cy="2697695"/>
            <a:chOff x="1457550" y="1836250"/>
            <a:chExt cx="6228900" cy="3144900"/>
          </a:xfrm>
        </p:grpSpPr>
        <p:sp>
          <p:nvSpPr>
            <p:cNvPr id="160" name="Google Shape;160;p21"/>
            <p:cNvSpPr/>
            <p:nvPr/>
          </p:nvSpPr>
          <p:spPr>
            <a:xfrm>
              <a:off x="1457550" y="1836250"/>
              <a:ext cx="6228900" cy="314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8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425" lIns="78425" spcFirstLastPara="1" rIns="78425" wrap="square" tIns="78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highlight>
                  <a:schemeClr val="lt1"/>
                </a:highlight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161" name="Google Shape;16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20100" y="1930221"/>
              <a:ext cx="5303800" cy="2956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SVM</a:t>
            </a:r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388" y="1237987"/>
            <a:ext cx="6431700" cy="256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1527000" y="3803275"/>
            <a:ext cx="61023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rPr>
              <a:t>Źródło: WSI wykład 6. 2024 dr inż. Paweł Zawistowski</a:t>
            </a:r>
            <a:endParaRPr sz="1100">
              <a:solidFill>
                <a:srgbClr val="E6E6E6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SVM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245" y="1118120"/>
            <a:ext cx="4859700" cy="198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725" y="3423799"/>
            <a:ext cx="3031800" cy="111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5440725" y="4534525"/>
            <a:ext cx="61023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800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rPr>
              <a:t>Źródło: WSI wykład 6. 2024 dr inż. Paweł Zawistowski</a:t>
            </a:r>
            <a:endParaRPr sz="800">
              <a:solidFill>
                <a:srgbClr val="E6E6E6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719150" y="2150850"/>
            <a:ext cx="763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Klasyfikacja wieloklasowa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 najbliższych sąsiadów</a:t>
            </a:r>
            <a:endParaRPr/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Bardzo prosty model: dla danych przypisujemy klasę, którą miało najwięcej z K sąsiadów</a:t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364" y="2135125"/>
            <a:ext cx="2657400" cy="2622900"/>
          </a:xfrm>
          <a:prstGeom prst="roundRect">
            <a:avLst>
              <a:gd fmla="val 5918" name="adj"/>
            </a:avLst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8450" y="2252175"/>
            <a:ext cx="1802700" cy="1196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91" name="Google Shape;19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441708">
            <a:off x="6056350" y="3361150"/>
            <a:ext cx="1699400" cy="13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l"/>
              <a:t>K najbliższych sąsiadów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 wybrać K?</a:t>
            </a:r>
            <a:endParaRPr/>
          </a:p>
        </p:txBody>
      </p:sp>
      <p:grpSp>
        <p:nvGrpSpPr>
          <p:cNvPr id="198" name="Google Shape;198;p26"/>
          <p:cNvGrpSpPr/>
          <p:nvPr/>
        </p:nvGrpSpPr>
        <p:grpSpPr>
          <a:xfrm>
            <a:off x="3077820" y="1594168"/>
            <a:ext cx="3330078" cy="3307139"/>
            <a:chOff x="2873700" y="1447475"/>
            <a:chExt cx="3738300" cy="3712550"/>
          </a:xfrm>
        </p:grpSpPr>
        <p:sp>
          <p:nvSpPr>
            <p:cNvPr id="199" name="Google Shape;199;p26"/>
            <p:cNvSpPr/>
            <p:nvPr/>
          </p:nvSpPr>
          <p:spPr>
            <a:xfrm>
              <a:off x="2873700" y="1464625"/>
              <a:ext cx="3738300" cy="36954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84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450" lIns="81450" spcFirstLastPara="1" rIns="81450" wrap="square" tIns="81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7"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200" name="Google Shape;20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96650" y="1447475"/>
              <a:ext cx="2925050" cy="2925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1013250" y="1152475"/>
            <a:ext cx="372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Zbiór walidacyjny</a:t>
            </a:r>
            <a:endParaRPr sz="2000"/>
          </a:p>
        </p:txBody>
      </p:sp>
      <p:sp>
        <p:nvSpPr>
          <p:cNvPr id="206" name="Google Shape;206;p27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Walidacja</a:t>
            </a:r>
            <a:endParaRPr/>
          </a:p>
        </p:txBody>
      </p:sp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741700" y="1152475"/>
            <a:ext cx="373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/>
              <a:t>K-krotna walidacja krzyżowa</a:t>
            </a:r>
            <a:endParaRPr sz="2000"/>
          </a:p>
        </p:txBody>
      </p:sp>
      <p:grpSp>
        <p:nvGrpSpPr>
          <p:cNvPr id="208" name="Google Shape;208;p27"/>
          <p:cNvGrpSpPr/>
          <p:nvPr/>
        </p:nvGrpSpPr>
        <p:grpSpPr>
          <a:xfrm>
            <a:off x="4979576" y="1922463"/>
            <a:ext cx="3256200" cy="2084700"/>
            <a:chOff x="5496376" y="1618125"/>
            <a:chExt cx="3256200" cy="2084700"/>
          </a:xfrm>
        </p:grpSpPr>
        <p:sp>
          <p:nvSpPr>
            <p:cNvPr id="209" name="Google Shape;209;p27"/>
            <p:cNvSpPr/>
            <p:nvPr/>
          </p:nvSpPr>
          <p:spPr>
            <a:xfrm>
              <a:off x="5496376" y="1618125"/>
              <a:ext cx="3256200" cy="208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210" name="Google Shape;21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39161" y="1770200"/>
              <a:ext cx="2570624" cy="1780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7"/>
          <p:cNvGrpSpPr/>
          <p:nvPr/>
        </p:nvGrpSpPr>
        <p:grpSpPr>
          <a:xfrm>
            <a:off x="1249926" y="1922475"/>
            <a:ext cx="3256200" cy="2084700"/>
            <a:chOff x="1273201" y="2171025"/>
            <a:chExt cx="3256200" cy="2084700"/>
          </a:xfrm>
        </p:grpSpPr>
        <p:sp>
          <p:nvSpPr>
            <p:cNvPr id="212" name="Google Shape;212;p27"/>
            <p:cNvSpPr/>
            <p:nvPr/>
          </p:nvSpPr>
          <p:spPr>
            <a:xfrm>
              <a:off x="1273201" y="2171025"/>
              <a:ext cx="3256200" cy="208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213" name="Google Shape;213;p27"/>
            <p:cNvPicPr preferRelativeResize="0"/>
            <p:nvPr/>
          </p:nvPicPr>
          <p:blipFill rotWithShape="1">
            <a:blip r:embed="rId4">
              <a:alphaModFix/>
            </a:blip>
            <a:srcRect b="4100" l="0" r="0" t="-4100"/>
            <a:stretch/>
          </p:blipFill>
          <p:spPr>
            <a:xfrm>
              <a:off x="1446488" y="2444563"/>
              <a:ext cx="2861924" cy="16085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Drzewa decyzyjne</a:t>
            </a:r>
            <a:endParaRPr/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/>
          <p:nvPr/>
        </p:nvSpPr>
        <p:spPr>
          <a:xfrm>
            <a:off x="1521750" y="1121025"/>
            <a:ext cx="5970300" cy="3416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Light"/>
              <a:ea typeface="Nunito Light"/>
              <a:cs typeface="Nunito Light"/>
              <a:sym typeface="Nunito Light"/>
            </a:endParaRPr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562" y="1411112"/>
            <a:ext cx="5328875" cy="28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XGBoost</a:t>
            </a:r>
            <a:endParaRPr/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000" y="1309525"/>
            <a:ext cx="4853700" cy="303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6335525" y="4286250"/>
            <a:ext cx="1841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 u="sng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Źródło</a:t>
            </a:r>
            <a:endParaRPr sz="1100">
              <a:solidFill>
                <a:srgbClr val="E6E6E6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Regularyzacja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>
            <a:off x="2142600" y="1357825"/>
            <a:ext cx="5200500" cy="2937000"/>
            <a:chOff x="2142600" y="1357825"/>
            <a:chExt cx="5200500" cy="2937000"/>
          </a:xfrm>
        </p:grpSpPr>
        <p:sp>
          <p:nvSpPr>
            <p:cNvPr id="237" name="Google Shape;237;p30"/>
            <p:cNvSpPr/>
            <p:nvPr/>
          </p:nvSpPr>
          <p:spPr>
            <a:xfrm>
              <a:off x="2142600" y="1357825"/>
              <a:ext cx="5200500" cy="293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 Light"/>
                <a:ea typeface="Nunito Light"/>
                <a:cs typeface="Nunito Light"/>
                <a:sym typeface="Nunito Light"/>
              </a:endParaRPr>
            </a:p>
          </p:txBody>
        </p:sp>
        <p:pic>
          <p:nvPicPr>
            <p:cNvPr id="238" name="Google Shape;23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19375" y="1683325"/>
              <a:ext cx="3905250" cy="228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Regularyzacja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387" y="1169025"/>
            <a:ext cx="5043000" cy="3314700"/>
          </a:xfrm>
          <a:prstGeom prst="roundRect">
            <a:avLst>
              <a:gd fmla="val 1541" name="adj"/>
            </a:avLst>
          </a:prstGeom>
          <a:noFill/>
          <a:ln>
            <a:noFill/>
          </a:ln>
        </p:spPr>
      </p:pic>
      <p:sp>
        <p:nvSpPr>
          <p:cNvPr id="246" name="Google Shape;246;p31"/>
          <p:cNvSpPr txBox="1"/>
          <p:nvPr/>
        </p:nvSpPr>
        <p:spPr>
          <a:xfrm>
            <a:off x="3180450" y="4534525"/>
            <a:ext cx="40839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500">
                <a:solidFill>
                  <a:srgbClr val="E6E6E6"/>
                </a:solidFill>
                <a:latin typeface="Nunito Light"/>
                <a:ea typeface="Nunito Light"/>
                <a:cs typeface="Nunito Light"/>
                <a:sym typeface="Nunito Light"/>
              </a:rPr>
              <a:t>Tak, powinno być depth, a nie deepness, ale robiłem to o 3. w nocy i nie chciało mi się trenować 4 sieci neuronowych, żeby to naprawić… -_-</a:t>
            </a:r>
            <a:endParaRPr sz="500">
              <a:solidFill>
                <a:srgbClr val="E6E6E6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1013250" y="416725"/>
            <a:ext cx="745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Dodatkowo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1013250" y="1118125"/>
            <a:ext cx="745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Naiwny klasyfikator Bayesowski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Algorytmy tworzenia drzew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Lasy losowe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lem_motyw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